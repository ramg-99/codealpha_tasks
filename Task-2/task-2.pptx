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TT Firs Neue" charset="1" panose="02000503030000020004"/>
      <p:regular r:id="rId16"/>
    </p:embeddedFont>
    <p:embeddedFont>
      <p:font typeface="TT Firs Neue Bold" charset="1" panose="02000803030000020004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8.png" Type="http://schemas.openxmlformats.org/officeDocument/2006/relationships/image"/><Relationship Id="rId5" Target="../media/image9.svg" Type="http://schemas.openxmlformats.org/officeDocument/2006/relationships/image"/><Relationship Id="rId6" Target="../media/image4.png" Type="http://schemas.openxmlformats.org/officeDocument/2006/relationships/image"/><Relationship Id="rId7" Target="../media/image5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12.png" Type="http://schemas.openxmlformats.org/officeDocument/2006/relationships/image"/><Relationship Id="rId5" Target="../media/image13.svg" Type="http://schemas.openxmlformats.org/officeDocument/2006/relationships/image"/><Relationship Id="rId6" Target="../media/image4.png" Type="http://schemas.openxmlformats.org/officeDocument/2006/relationships/image"/><Relationship Id="rId7" Target="../media/image5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14.png" Type="http://schemas.openxmlformats.org/officeDocument/2006/relationships/image"/><Relationship Id="rId5" Target="../media/image15.svg" Type="http://schemas.openxmlformats.org/officeDocument/2006/relationships/image"/><Relationship Id="rId6" Target="../media/image16.png" Type="http://schemas.openxmlformats.org/officeDocument/2006/relationships/image"/><Relationship Id="rId7" Target="../media/image17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Relationship Id="rId3" Target="../media/image19.png" Type="http://schemas.openxmlformats.org/officeDocument/2006/relationships/image"/><Relationship Id="rId4" Target="../media/image20.png" Type="http://schemas.openxmlformats.org/officeDocument/2006/relationships/image"/><Relationship Id="rId5" Target="../media/image21.png" Type="http://schemas.openxmlformats.org/officeDocument/2006/relationships/image"/><Relationship Id="rId6" Target="../media/image22.svg" Type="http://schemas.openxmlformats.org/officeDocument/2006/relationships/image"/><Relationship Id="rId7" Target="../media/image23.png" Type="http://schemas.openxmlformats.org/officeDocument/2006/relationships/image"/><Relationship Id="rId8" Target="../media/image4.png" Type="http://schemas.openxmlformats.org/officeDocument/2006/relationships/image"/><Relationship Id="rId9" Target="../media/image5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2.png" Type="http://schemas.openxmlformats.org/officeDocument/2006/relationships/image"/><Relationship Id="rId11" Target="../media/image33.svg" Type="http://schemas.openxmlformats.org/officeDocument/2006/relationships/image"/><Relationship Id="rId12" Target="../media/image4.png" Type="http://schemas.openxmlformats.org/officeDocument/2006/relationships/image"/><Relationship Id="rId13" Target="../media/image5.svg" Type="http://schemas.openxmlformats.org/officeDocument/2006/relationships/image"/><Relationship Id="rId2" Target="../media/image24.png" Type="http://schemas.openxmlformats.org/officeDocument/2006/relationships/image"/><Relationship Id="rId3" Target="../media/image25.svg" Type="http://schemas.openxmlformats.org/officeDocument/2006/relationships/image"/><Relationship Id="rId4" Target="../media/image26.png" Type="http://schemas.openxmlformats.org/officeDocument/2006/relationships/image"/><Relationship Id="rId5" Target="../media/image27.svg" Type="http://schemas.openxmlformats.org/officeDocument/2006/relationships/image"/><Relationship Id="rId6" Target="../media/image28.png" Type="http://schemas.openxmlformats.org/officeDocument/2006/relationships/image"/><Relationship Id="rId7" Target="../media/image29.svg" Type="http://schemas.openxmlformats.org/officeDocument/2006/relationships/image"/><Relationship Id="rId8" Target="../media/image30.png" Type="http://schemas.openxmlformats.org/officeDocument/2006/relationships/image"/><Relationship Id="rId9" Target="../media/image31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4.png" Type="http://schemas.openxmlformats.org/officeDocument/2006/relationships/image"/><Relationship Id="rId3" Target="../media/image35.pn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6.pn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7.png" Type="http://schemas.openxmlformats.org/officeDocument/2006/relationships/image"/><Relationship Id="rId3" Target="../media/image38.pn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39.png" Type="http://schemas.openxmlformats.org/officeDocument/2006/relationships/image"/><Relationship Id="rId5" Target="../media/image40.svg" Type="http://schemas.openxmlformats.org/officeDocument/2006/relationships/image"/><Relationship Id="rId6" Target="../media/image41.png" Type="http://schemas.openxmlformats.org/officeDocument/2006/relationships/image"/><Relationship Id="rId7" Target="../media/image4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B0CE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65715" y="2115128"/>
            <a:ext cx="7498221" cy="7498221"/>
          </a:xfrm>
          <a:custGeom>
            <a:avLst/>
            <a:gdLst/>
            <a:ahLst/>
            <a:cxnLst/>
            <a:rect r="r" b="b" t="t" l="l"/>
            <a:pathLst>
              <a:path h="7498221" w="7498221">
                <a:moveTo>
                  <a:pt x="0" y="0"/>
                </a:moveTo>
                <a:lnTo>
                  <a:pt x="7498220" y="0"/>
                </a:lnTo>
                <a:lnTo>
                  <a:pt x="7498220" y="7498221"/>
                </a:lnTo>
                <a:lnTo>
                  <a:pt x="0" y="749822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61610" y="379849"/>
            <a:ext cx="7467881" cy="7324268"/>
          </a:xfrm>
          <a:custGeom>
            <a:avLst/>
            <a:gdLst/>
            <a:ahLst/>
            <a:cxnLst/>
            <a:rect r="r" b="b" t="t" l="l"/>
            <a:pathLst>
              <a:path h="7324268" w="7467881">
                <a:moveTo>
                  <a:pt x="0" y="0"/>
                </a:moveTo>
                <a:lnTo>
                  <a:pt x="7467881" y="0"/>
                </a:lnTo>
                <a:lnTo>
                  <a:pt x="7467881" y="7324268"/>
                </a:lnTo>
                <a:lnTo>
                  <a:pt x="0" y="732426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8694357" y="7338427"/>
            <a:ext cx="2592336" cy="1008487"/>
            <a:chOff x="0" y="0"/>
            <a:chExt cx="682755" cy="26561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82755" cy="265610"/>
            </a:xfrm>
            <a:custGeom>
              <a:avLst/>
              <a:gdLst/>
              <a:ahLst/>
              <a:cxnLst/>
              <a:rect r="r" b="b" t="t" l="l"/>
              <a:pathLst>
                <a:path h="265610" w="682755">
                  <a:moveTo>
                    <a:pt x="132805" y="0"/>
                  </a:moveTo>
                  <a:lnTo>
                    <a:pt x="549950" y="0"/>
                  </a:lnTo>
                  <a:cubicBezTo>
                    <a:pt x="623296" y="0"/>
                    <a:pt x="682755" y="59459"/>
                    <a:pt x="682755" y="132805"/>
                  </a:cubicBezTo>
                  <a:lnTo>
                    <a:pt x="682755" y="132805"/>
                  </a:lnTo>
                  <a:cubicBezTo>
                    <a:pt x="682755" y="168027"/>
                    <a:pt x="668763" y="201806"/>
                    <a:pt x="643857" y="226712"/>
                  </a:cubicBezTo>
                  <a:cubicBezTo>
                    <a:pt x="618952" y="251618"/>
                    <a:pt x="585172" y="265610"/>
                    <a:pt x="549950" y="265610"/>
                  </a:cubicBezTo>
                  <a:lnTo>
                    <a:pt x="132805" y="265610"/>
                  </a:lnTo>
                  <a:cubicBezTo>
                    <a:pt x="59459" y="265610"/>
                    <a:pt x="0" y="206151"/>
                    <a:pt x="0" y="132805"/>
                  </a:cubicBezTo>
                  <a:lnTo>
                    <a:pt x="0" y="132805"/>
                  </a:lnTo>
                  <a:cubicBezTo>
                    <a:pt x="0" y="59459"/>
                    <a:pt x="59459" y="0"/>
                    <a:pt x="132805" y="0"/>
                  </a:cubicBezTo>
                  <a:close/>
                </a:path>
              </a:pathLst>
            </a:custGeom>
            <a:solidFill>
              <a:srgbClr val="71AEFF"/>
            </a:solidFill>
            <a:ln w="19050" cap="rnd">
              <a:solidFill>
                <a:srgbClr val="011142"/>
              </a:solidFill>
              <a:prstDash val="solid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682755" cy="3037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059"/>
                </a:lnSpc>
              </a:pPr>
              <a:r>
                <a:rPr lang="en-US" sz="1471">
                  <a:solidFill>
                    <a:srgbClr val="011142"/>
                  </a:solidFill>
                  <a:latin typeface="TT Firs Neue"/>
                  <a:ea typeface="TT Firs Neue"/>
                  <a:cs typeface="TT Firs Neue"/>
                  <a:sym typeface="TT Firs Neue"/>
                </a:rPr>
                <a:t>Get Started</a:t>
              </a:r>
            </a:p>
          </p:txBody>
        </p:sp>
      </p:grpSp>
      <p:sp>
        <p:nvSpPr>
          <p:cNvPr name="Freeform 7" id="7"/>
          <p:cNvSpPr/>
          <p:nvPr/>
        </p:nvSpPr>
        <p:spPr>
          <a:xfrm flipH="true" flipV="false" rot="0">
            <a:off x="13601700" y="8726285"/>
            <a:ext cx="7315200" cy="1064029"/>
          </a:xfrm>
          <a:custGeom>
            <a:avLst/>
            <a:gdLst/>
            <a:ahLst/>
            <a:cxnLst/>
            <a:rect r="r" b="b" t="t" l="l"/>
            <a:pathLst>
              <a:path h="1064029" w="7315200">
                <a:moveTo>
                  <a:pt x="7315200" y="0"/>
                </a:moveTo>
                <a:lnTo>
                  <a:pt x="0" y="0"/>
                </a:lnTo>
                <a:lnTo>
                  <a:pt x="0" y="1064030"/>
                </a:lnTo>
                <a:lnTo>
                  <a:pt x="7315200" y="1064030"/>
                </a:lnTo>
                <a:lnTo>
                  <a:pt x="731520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7267948" y="2981720"/>
            <a:ext cx="8954062" cy="8647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348"/>
              </a:lnSpc>
            </a:pPr>
            <a:r>
              <a:rPr lang="en-US" b="true" sz="6975">
                <a:solidFill>
                  <a:srgbClr val="011142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Awareness Training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267948" y="1646033"/>
            <a:ext cx="6789360" cy="8665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348"/>
              </a:lnSpc>
            </a:pPr>
            <a:r>
              <a:rPr lang="en-US" sz="6975">
                <a:solidFill>
                  <a:srgbClr val="011142"/>
                </a:solidFill>
                <a:latin typeface="TT Firs Neue"/>
                <a:ea typeface="TT Firs Neue"/>
                <a:cs typeface="TT Firs Neue"/>
                <a:sym typeface="TT Firs Neue"/>
              </a:rPr>
              <a:t>Phishing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561878" y="5734050"/>
            <a:ext cx="7449630" cy="8030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272"/>
              </a:lnSpc>
            </a:pPr>
            <a:r>
              <a:rPr lang="en-US" sz="2337">
                <a:solidFill>
                  <a:srgbClr val="011142"/>
                </a:solidFill>
                <a:latin typeface="TT Firs Neue"/>
                <a:ea typeface="TT Firs Neue"/>
                <a:cs typeface="TT Firs Neue"/>
                <a:sym typeface="TT Firs Neue"/>
              </a:rPr>
              <a:t>Your Essential Guide to Recognizing Attacks &amp; Staying Safe Online</a:t>
            </a:r>
          </a:p>
        </p:txBody>
      </p:sp>
      <p:sp>
        <p:nvSpPr>
          <p:cNvPr name="Freeform 11" id="11"/>
          <p:cNvSpPr/>
          <p:nvPr/>
        </p:nvSpPr>
        <p:spPr>
          <a:xfrm flipH="true" flipV="false" rot="0">
            <a:off x="-1607344" y="330360"/>
            <a:ext cx="7315200" cy="1064029"/>
          </a:xfrm>
          <a:custGeom>
            <a:avLst/>
            <a:gdLst/>
            <a:ahLst/>
            <a:cxnLst/>
            <a:rect r="r" b="b" t="t" l="l"/>
            <a:pathLst>
              <a:path h="1064029" w="7315200">
                <a:moveTo>
                  <a:pt x="7315200" y="0"/>
                </a:moveTo>
                <a:lnTo>
                  <a:pt x="0" y="0"/>
                </a:lnTo>
                <a:lnTo>
                  <a:pt x="0" y="1064030"/>
                </a:lnTo>
                <a:lnTo>
                  <a:pt x="7315200" y="1064030"/>
                </a:lnTo>
                <a:lnTo>
                  <a:pt x="731520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4058946" y="4608912"/>
            <a:ext cx="3821405" cy="534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54"/>
              </a:lnSpc>
            </a:pPr>
            <a:r>
              <a:rPr lang="en-US" sz="4345">
                <a:solidFill>
                  <a:srgbClr val="011142"/>
                </a:solidFill>
                <a:latin typeface="TT Firs Neue"/>
                <a:ea typeface="TT Firs Neue"/>
                <a:cs typeface="TT Firs Neue"/>
                <a:sym typeface="TT Firs Neue"/>
              </a:rPr>
              <a:t>-Ram Gangul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B0CE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505691" y="2534643"/>
            <a:ext cx="7753609" cy="6118303"/>
          </a:xfrm>
          <a:custGeom>
            <a:avLst/>
            <a:gdLst/>
            <a:ahLst/>
            <a:cxnLst/>
            <a:rect r="r" b="b" t="t" l="l"/>
            <a:pathLst>
              <a:path h="6118303" w="7753609">
                <a:moveTo>
                  <a:pt x="0" y="0"/>
                </a:moveTo>
                <a:lnTo>
                  <a:pt x="7753609" y="0"/>
                </a:lnTo>
                <a:lnTo>
                  <a:pt x="7753609" y="6118303"/>
                </a:lnTo>
                <a:lnTo>
                  <a:pt x="0" y="611830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3" id="3"/>
          <p:cNvGrpSpPr/>
          <p:nvPr/>
        </p:nvGrpSpPr>
        <p:grpSpPr>
          <a:xfrm rot="0">
            <a:off x="12982597" y="5355807"/>
            <a:ext cx="1388624" cy="2300421"/>
            <a:chOff x="0" y="0"/>
            <a:chExt cx="365728" cy="60587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65728" cy="605872"/>
            </a:xfrm>
            <a:custGeom>
              <a:avLst/>
              <a:gdLst/>
              <a:ahLst/>
              <a:cxnLst/>
              <a:rect r="r" b="b" t="t" l="l"/>
              <a:pathLst>
                <a:path h="605872" w="365728">
                  <a:moveTo>
                    <a:pt x="0" y="0"/>
                  </a:moveTo>
                  <a:lnTo>
                    <a:pt x="365728" y="0"/>
                  </a:lnTo>
                  <a:lnTo>
                    <a:pt x="365728" y="605872"/>
                  </a:lnTo>
                  <a:lnTo>
                    <a:pt x="0" y="605872"/>
                  </a:lnTo>
                  <a:close/>
                </a:path>
              </a:pathLst>
            </a:custGeom>
            <a:solidFill>
              <a:srgbClr val="064CDE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365728" cy="6344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3083740" y="5702464"/>
            <a:ext cx="1186336" cy="1607106"/>
          </a:xfrm>
          <a:custGeom>
            <a:avLst/>
            <a:gdLst/>
            <a:ahLst/>
            <a:cxnLst/>
            <a:rect r="r" b="b" t="t" l="l"/>
            <a:pathLst>
              <a:path h="1607106" w="1186336">
                <a:moveTo>
                  <a:pt x="0" y="0"/>
                </a:moveTo>
                <a:lnTo>
                  <a:pt x="1186337" y="0"/>
                </a:lnTo>
                <a:lnTo>
                  <a:pt x="1186337" y="1607106"/>
                </a:lnTo>
                <a:lnTo>
                  <a:pt x="0" y="160710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3542516"/>
            <a:ext cx="7088850" cy="8076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911"/>
              </a:lnSpc>
            </a:pPr>
            <a:r>
              <a:rPr lang="en-US" b="true" sz="6496">
                <a:solidFill>
                  <a:srgbClr val="011142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Phishing?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2715618"/>
            <a:ext cx="4898318" cy="8073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911"/>
              </a:lnSpc>
            </a:pPr>
            <a:r>
              <a:rPr lang="en-US" sz="6496">
                <a:solidFill>
                  <a:srgbClr val="011142"/>
                </a:solidFill>
                <a:latin typeface="TT Firs Neue"/>
                <a:ea typeface="TT Firs Neue"/>
                <a:cs typeface="TT Firs Neue"/>
                <a:sym typeface="TT Firs Neue"/>
              </a:rPr>
              <a:t>What is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4730332"/>
            <a:ext cx="7584236" cy="13970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98"/>
              </a:lnSpc>
            </a:pPr>
            <a:r>
              <a:rPr lang="en-US" sz="1998">
                <a:solidFill>
                  <a:srgbClr val="011142"/>
                </a:solidFill>
                <a:latin typeface="TT Firs Neue"/>
                <a:ea typeface="TT Firs Neue"/>
                <a:cs typeface="TT Firs Neue"/>
                <a:sym typeface="TT Firs Neue"/>
              </a:rPr>
              <a:t>Phishing is a type of cyber attack where criminals impersonate trusted entities — such as banks, companies, or colleagues — to trick individuals into revealing sensitive information like passwords, credit card numbers, or personal data.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6508332"/>
            <a:ext cx="7584236" cy="13970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98"/>
              </a:lnSpc>
            </a:pPr>
            <a:r>
              <a:rPr lang="en-US" sz="1998">
                <a:solidFill>
                  <a:srgbClr val="011142"/>
                </a:solidFill>
                <a:latin typeface="TT Firs Neue"/>
                <a:ea typeface="TT Firs Neue"/>
                <a:cs typeface="TT Firs Neue"/>
                <a:sym typeface="TT Firs Neue"/>
              </a:rPr>
              <a:t>It is the #1 cyber security threat worldwide, responsible for over 90% of data breaches. Attackers use deceptive emails, fake websites, and social engineering to exploit human trust rather than technical vulnerabilities.</a:t>
            </a:r>
          </a:p>
        </p:txBody>
      </p:sp>
      <p:sp>
        <p:nvSpPr>
          <p:cNvPr name="Freeform 11" id="11"/>
          <p:cNvSpPr/>
          <p:nvPr/>
        </p:nvSpPr>
        <p:spPr>
          <a:xfrm flipH="true" flipV="false" rot="0">
            <a:off x="13090922" y="8809448"/>
            <a:ext cx="7315200" cy="1064029"/>
          </a:xfrm>
          <a:custGeom>
            <a:avLst/>
            <a:gdLst/>
            <a:ahLst/>
            <a:cxnLst/>
            <a:rect r="r" b="b" t="t" l="l"/>
            <a:pathLst>
              <a:path h="1064029" w="7315200">
                <a:moveTo>
                  <a:pt x="7315200" y="0"/>
                </a:moveTo>
                <a:lnTo>
                  <a:pt x="0" y="0"/>
                </a:lnTo>
                <a:lnTo>
                  <a:pt x="0" y="1064029"/>
                </a:lnTo>
                <a:lnTo>
                  <a:pt x="7315200" y="1064029"/>
                </a:lnTo>
                <a:lnTo>
                  <a:pt x="731520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true" flipV="false" rot="0">
            <a:off x="-2118122" y="413523"/>
            <a:ext cx="7315200" cy="1064029"/>
          </a:xfrm>
          <a:custGeom>
            <a:avLst/>
            <a:gdLst/>
            <a:ahLst/>
            <a:cxnLst/>
            <a:rect r="r" b="b" t="t" l="l"/>
            <a:pathLst>
              <a:path h="1064029" w="7315200">
                <a:moveTo>
                  <a:pt x="7315200" y="0"/>
                </a:moveTo>
                <a:lnTo>
                  <a:pt x="0" y="0"/>
                </a:lnTo>
                <a:lnTo>
                  <a:pt x="0" y="1064029"/>
                </a:lnTo>
                <a:lnTo>
                  <a:pt x="7315200" y="1064029"/>
                </a:lnTo>
                <a:lnTo>
                  <a:pt x="731520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B0CE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028700"/>
            <a:ext cx="2592336" cy="731379"/>
            <a:chOff x="0" y="0"/>
            <a:chExt cx="682755" cy="19262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82755" cy="192627"/>
            </a:xfrm>
            <a:custGeom>
              <a:avLst/>
              <a:gdLst/>
              <a:ahLst/>
              <a:cxnLst/>
              <a:rect r="r" b="b" t="t" l="l"/>
              <a:pathLst>
                <a:path h="192627" w="682755">
                  <a:moveTo>
                    <a:pt x="96313" y="0"/>
                  </a:moveTo>
                  <a:lnTo>
                    <a:pt x="586442" y="0"/>
                  </a:lnTo>
                  <a:cubicBezTo>
                    <a:pt x="639634" y="0"/>
                    <a:pt x="682755" y="43121"/>
                    <a:pt x="682755" y="96313"/>
                  </a:cubicBezTo>
                  <a:lnTo>
                    <a:pt x="682755" y="96313"/>
                  </a:lnTo>
                  <a:cubicBezTo>
                    <a:pt x="682755" y="149506"/>
                    <a:pt x="639634" y="192627"/>
                    <a:pt x="586442" y="192627"/>
                  </a:cubicBezTo>
                  <a:lnTo>
                    <a:pt x="96313" y="192627"/>
                  </a:lnTo>
                  <a:cubicBezTo>
                    <a:pt x="43121" y="192627"/>
                    <a:pt x="0" y="149506"/>
                    <a:pt x="0" y="96313"/>
                  </a:cubicBezTo>
                  <a:lnTo>
                    <a:pt x="0" y="96313"/>
                  </a:lnTo>
                  <a:cubicBezTo>
                    <a:pt x="0" y="43121"/>
                    <a:pt x="43121" y="0"/>
                    <a:pt x="96313" y="0"/>
                  </a:cubicBezTo>
                  <a:close/>
                </a:path>
              </a:pathLst>
            </a:custGeom>
            <a:solidFill>
              <a:srgbClr val="F1F2F6"/>
            </a:solidFill>
            <a:ln w="19050" cap="rnd">
              <a:solidFill>
                <a:srgbClr val="011142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682755" cy="2116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679"/>
                </a:lnSpc>
              </a:pPr>
              <a:r>
                <a:rPr lang="en-US" b="true" sz="1200">
                  <a:solidFill>
                    <a:srgbClr val="011142"/>
                  </a:solidFill>
                  <a:latin typeface="TT Firs Neue Bold"/>
                  <a:ea typeface="TT Firs Neue Bold"/>
                  <a:cs typeface="TT Firs Neue Bold"/>
                  <a:sym typeface="TT Firs Neue Bold"/>
                </a:rPr>
                <a:t>Thynk Unlimited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28700" y="4790520"/>
            <a:ext cx="3544425" cy="705961"/>
            <a:chOff x="0" y="0"/>
            <a:chExt cx="933511" cy="18593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33511" cy="185932"/>
            </a:xfrm>
            <a:custGeom>
              <a:avLst/>
              <a:gdLst/>
              <a:ahLst/>
              <a:cxnLst/>
              <a:rect r="r" b="b" t="t" l="l"/>
              <a:pathLst>
                <a:path h="185932" w="933511">
                  <a:moveTo>
                    <a:pt x="43685" y="0"/>
                  </a:moveTo>
                  <a:lnTo>
                    <a:pt x="889826" y="0"/>
                  </a:lnTo>
                  <a:cubicBezTo>
                    <a:pt x="901412" y="0"/>
                    <a:pt x="912524" y="4603"/>
                    <a:pt x="920716" y="12795"/>
                  </a:cubicBezTo>
                  <a:cubicBezTo>
                    <a:pt x="928909" y="20988"/>
                    <a:pt x="933511" y="32099"/>
                    <a:pt x="933511" y="43685"/>
                  </a:cubicBezTo>
                  <a:lnTo>
                    <a:pt x="933511" y="142247"/>
                  </a:lnTo>
                  <a:cubicBezTo>
                    <a:pt x="933511" y="166374"/>
                    <a:pt x="913953" y="185932"/>
                    <a:pt x="889826" y="185932"/>
                  </a:cubicBezTo>
                  <a:lnTo>
                    <a:pt x="43685" y="185932"/>
                  </a:lnTo>
                  <a:cubicBezTo>
                    <a:pt x="19558" y="185932"/>
                    <a:pt x="0" y="166374"/>
                    <a:pt x="0" y="142247"/>
                  </a:cubicBezTo>
                  <a:lnTo>
                    <a:pt x="0" y="43685"/>
                  </a:lnTo>
                  <a:cubicBezTo>
                    <a:pt x="0" y="32099"/>
                    <a:pt x="4603" y="20988"/>
                    <a:pt x="12795" y="12795"/>
                  </a:cubicBezTo>
                  <a:cubicBezTo>
                    <a:pt x="20988" y="4603"/>
                    <a:pt x="32099" y="0"/>
                    <a:pt x="43685" y="0"/>
                  </a:cubicBezTo>
                  <a:close/>
                </a:path>
              </a:pathLst>
            </a:custGeom>
            <a:solidFill>
              <a:srgbClr val="F1F2F6"/>
            </a:solidFill>
            <a:ln w="19050" cap="sq">
              <a:solidFill>
                <a:srgbClr val="011142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933511" cy="2049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679"/>
                </a:lnSpc>
                <a:spcBef>
                  <a:spcPct val="0"/>
                </a:spcBef>
              </a:pPr>
              <a:r>
                <a:rPr lang="en-US" b="true" sz="1200">
                  <a:solidFill>
                    <a:srgbClr val="011142"/>
                  </a:solidFill>
                  <a:latin typeface="TT Firs Neue Bold"/>
                  <a:ea typeface="TT Firs Neue Bold"/>
                  <a:cs typeface="TT Firs Neue Bold"/>
                  <a:sym typeface="TT Firs Neue Bold"/>
                </a:rPr>
                <a:t>Suspicious Sender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525072" y="4741062"/>
            <a:ext cx="4111261" cy="804876"/>
            <a:chOff x="0" y="0"/>
            <a:chExt cx="1082801" cy="21198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82801" cy="211984"/>
            </a:xfrm>
            <a:custGeom>
              <a:avLst/>
              <a:gdLst/>
              <a:ahLst/>
              <a:cxnLst/>
              <a:rect r="r" b="b" t="t" l="l"/>
              <a:pathLst>
                <a:path h="211984" w="1082801">
                  <a:moveTo>
                    <a:pt x="37662" y="0"/>
                  </a:moveTo>
                  <a:lnTo>
                    <a:pt x="1045139" y="0"/>
                  </a:lnTo>
                  <a:cubicBezTo>
                    <a:pt x="1065939" y="0"/>
                    <a:pt x="1082801" y="16862"/>
                    <a:pt x="1082801" y="37662"/>
                  </a:cubicBezTo>
                  <a:lnTo>
                    <a:pt x="1082801" y="174322"/>
                  </a:lnTo>
                  <a:cubicBezTo>
                    <a:pt x="1082801" y="195122"/>
                    <a:pt x="1065939" y="211984"/>
                    <a:pt x="1045139" y="211984"/>
                  </a:cubicBezTo>
                  <a:lnTo>
                    <a:pt x="37662" y="211984"/>
                  </a:lnTo>
                  <a:cubicBezTo>
                    <a:pt x="27673" y="211984"/>
                    <a:pt x="18094" y="208016"/>
                    <a:pt x="11031" y="200953"/>
                  </a:cubicBezTo>
                  <a:cubicBezTo>
                    <a:pt x="3968" y="193890"/>
                    <a:pt x="0" y="184310"/>
                    <a:pt x="0" y="174322"/>
                  </a:cubicBezTo>
                  <a:lnTo>
                    <a:pt x="0" y="37662"/>
                  </a:lnTo>
                  <a:cubicBezTo>
                    <a:pt x="0" y="16862"/>
                    <a:pt x="16862" y="0"/>
                    <a:pt x="37662" y="0"/>
                  </a:cubicBezTo>
                  <a:close/>
                </a:path>
              </a:pathLst>
            </a:custGeom>
            <a:solidFill>
              <a:srgbClr val="F1F2F6"/>
            </a:solidFill>
            <a:ln w="19050" cap="sq">
              <a:solidFill>
                <a:srgbClr val="011142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19050"/>
              <a:ext cx="1082801" cy="2310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679"/>
                </a:lnSpc>
                <a:spcBef>
                  <a:spcPct val="0"/>
                </a:spcBef>
              </a:pPr>
              <a:r>
                <a:rPr lang="en-US" b="true" sz="1200">
                  <a:solidFill>
                    <a:srgbClr val="011142"/>
                  </a:solidFill>
                  <a:latin typeface="TT Firs Neue Bold"/>
                  <a:ea typeface="TT Firs Neue Bold"/>
                  <a:cs typeface="TT Firs Neue Bold"/>
                  <a:sym typeface="TT Firs Neue Bold"/>
                </a:rPr>
                <a:t>Urgent Language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2054739" y="7259869"/>
            <a:ext cx="3544425" cy="705961"/>
            <a:chOff x="0" y="0"/>
            <a:chExt cx="933511" cy="18593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33511" cy="185932"/>
            </a:xfrm>
            <a:custGeom>
              <a:avLst/>
              <a:gdLst/>
              <a:ahLst/>
              <a:cxnLst/>
              <a:rect r="r" b="b" t="t" l="l"/>
              <a:pathLst>
                <a:path h="185932" w="933511">
                  <a:moveTo>
                    <a:pt x="43685" y="0"/>
                  </a:moveTo>
                  <a:lnTo>
                    <a:pt x="889826" y="0"/>
                  </a:lnTo>
                  <a:cubicBezTo>
                    <a:pt x="901412" y="0"/>
                    <a:pt x="912524" y="4603"/>
                    <a:pt x="920716" y="12795"/>
                  </a:cubicBezTo>
                  <a:cubicBezTo>
                    <a:pt x="928909" y="20988"/>
                    <a:pt x="933511" y="32099"/>
                    <a:pt x="933511" y="43685"/>
                  </a:cubicBezTo>
                  <a:lnTo>
                    <a:pt x="933511" y="142247"/>
                  </a:lnTo>
                  <a:cubicBezTo>
                    <a:pt x="933511" y="166374"/>
                    <a:pt x="913953" y="185932"/>
                    <a:pt x="889826" y="185932"/>
                  </a:cubicBezTo>
                  <a:lnTo>
                    <a:pt x="43685" y="185932"/>
                  </a:lnTo>
                  <a:cubicBezTo>
                    <a:pt x="19558" y="185932"/>
                    <a:pt x="0" y="166374"/>
                    <a:pt x="0" y="142247"/>
                  </a:cubicBezTo>
                  <a:lnTo>
                    <a:pt x="0" y="43685"/>
                  </a:lnTo>
                  <a:cubicBezTo>
                    <a:pt x="0" y="32099"/>
                    <a:pt x="4603" y="20988"/>
                    <a:pt x="12795" y="12795"/>
                  </a:cubicBezTo>
                  <a:cubicBezTo>
                    <a:pt x="20988" y="4603"/>
                    <a:pt x="32099" y="0"/>
                    <a:pt x="43685" y="0"/>
                  </a:cubicBezTo>
                  <a:close/>
                </a:path>
              </a:pathLst>
            </a:custGeom>
            <a:solidFill>
              <a:srgbClr val="F1F2F6"/>
            </a:solidFill>
            <a:ln w="19050" cap="sq">
              <a:solidFill>
                <a:srgbClr val="011142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19050"/>
              <a:ext cx="933511" cy="2049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679"/>
                </a:lnSpc>
                <a:spcBef>
                  <a:spcPct val="0"/>
                </a:spcBef>
              </a:pPr>
              <a:r>
                <a:rPr lang="en-US" b="true" sz="1200">
                  <a:solidFill>
                    <a:srgbClr val="011142"/>
                  </a:solidFill>
                  <a:latin typeface="TT Firs Neue Bold"/>
                  <a:ea typeface="TT Firs Neue Bold"/>
                  <a:cs typeface="TT Firs Neue Bold"/>
                  <a:sym typeface="TT Firs Neue Bold"/>
                </a:rPr>
                <a:t>Requests for Personal Info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999447" y="7259869"/>
            <a:ext cx="3544425" cy="705961"/>
            <a:chOff x="0" y="0"/>
            <a:chExt cx="933511" cy="18593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33511" cy="185932"/>
            </a:xfrm>
            <a:custGeom>
              <a:avLst/>
              <a:gdLst/>
              <a:ahLst/>
              <a:cxnLst/>
              <a:rect r="r" b="b" t="t" l="l"/>
              <a:pathLst>
                <a:path h="185932" w="933511">
                  <a:moveTo>
                    <a:pt x="43685" y="0"/>
                  </a:moveTo>
                  <a:lnTo>
                    <a:pt x="889826" y="0"/>
                  </a:lnTo>
                  <a:cubicBezTo>
                    <a:pt x="901412" y="0"/>
                    <a:pt x="912524" y="4603"/>
                    <a:pt x="920716" y="12795"/>
                  </a:cubicBezTo>
                  <a:cubicBezTo>
                    <a:pt x="928909" y="20988"/>
                    <a:pt x="933511" y="32099"/>
                    <a:pt x="933511" y="43685"/>
                  </a:cubicBezTo>
                  <a:lnTo>
                    <a:pt x="933511" y="142247"/>
                  </a:lnTo>
                  <a:cubicBezTo>
                    <a:pt x="933511" y="166374"/>
                    <a:pt x="913953" y="185932"/>
                    <a:pt x="889826" y="185932"/>
                  </a:cubicBezTo>
                  <a:lnTo>
                    <a:pt x="43685" y="185932"/>
                  </a:lnTo>
                  <a:cubicBezTo>
                    <a:pt x="19558" y="185932"/>
                    <a:pt x="0" y="166374"/>
                    <a:pt x="0" y="142247"/>
                  </a:cubicBezTo>
                  <a:lnTo>
                    <a:pt x="0" y="43685"/>
                  </a:lnTo>
                  <a:cubicBezTo>
                    <a:pt x="0" y="32099"/>
                    <a:pt x="4603" y="20988"/>
                    <a:pt x="12795" y="12795"/>
                  </a:cubicBezTo>
                  <a:cubicBezTo>
                    <a:pt x="20988" y="4603"/>
                    <a:pt x="32099" y="0"/>
                    <a:pt x="43685" y="0"/>
                  </a:cubicBezTo>
                  <a:close/>
                </a:path>
              </a:pathLst>
            </a:custGeom>
            <a:solidFill>
              <a:srgbClr val="F1F2F6"/>
            </a:solidFill>
            <a:ln w="19050" cap="sq">
              <a:solidFill>
                <a:srgbClr val="011142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19050"/>
              <a:ext cx="933511" cy="2049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679"/>
                </a:lnSpc>
                <a:spcBef>
                  <a:spcPct val="0"/>
                </a:spcBef>
              </a:pPr>
              <a:r>
                <a:rPr lang="en-US" b="true" sz="1200">
                  <a:solidFill>
                    <a:srgbClr val="011142"/>
                  </a:solidFill>
                  <a:latin typeface="TT Firs Neue Bold"/>
                  <a:ea typeface="TT Firs Neue Bold"/>
                  <a:cs typeface="TT Firs Neue Bold"/>
                  <a:sym typeface="TT Firs Neue Bold"/>
                </a:rPr>
                <a:t>Spelling &amp; Grammar Errors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6525072" y="7259869"/>
            <a:ext cx="3544425" cy="705961"/>
            <a:chOff x="0" y="0"/>
            <a:chExt cx="933511" cy="18593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933511" cy="185932"/>
            </a:xfrm>
            <a:custGeom>
              <a:avLst/>
              <a:gdLst/>
              <a:ahLst/>
              <a:cxnLst/>
              <a:rect r="r" b="b" t="t" l="l"/>
              <a:pathLst>
                <a:path h="185932" w="933511">
                  <a:moveTo>
                    <a:pt x="43685" y="0"/>
                  </a:moveTo>
                  <a:lnTo>
                    <a:pt x="889826" y="0"/>
                  </a:lnTo>
                  <a:cubicBezTo>
                    <a:pt x="901412" y="0"/>
                    <a:pt x="912524" y="4603"/>
                    <a:pt x="920716" y="12795"/>
                  </a:cubicBezTo>
                  <a:cubicBezTo>
                    <a:pt x="928909" y="20988"/>
                    <a:pt x="933511" y="32099"/>
                    <a:pt x="933511" y="43685"/>
                  </a:cubicBezTo>
                  <a:lnTo>
                    <a:pt x="933511" y="142247"/>
                  </a:lnTo>
                  <a:cubicBezTo>
                    <a:pt x="933511" y="166374"/>
                    <a:pt x="913953" y="185932"/>
                    <a:pt x="889826" y="185932"/>
                  </a:cubicBezTo>
                  <a:lnTo>
                    <a:pt x="43685" y="185932"/>
                  </a:lnTo>
                  <a:cubicBezTo>
                    <a:pt x="19558" y="185932"/>
                    <a:pt x="0" y="166374"/>
                    <a:pt x="0" y="142247"/>
                  </a:cubicBezTo>
                  <a:lnTo>
                    <a:pt x="0" y="43685"/>
                  </a:lnTo>
                  <a:cubicBezTo>
                    <a:pt x="0" y="32099"/>
                    <a:pt x="4603" y="20988"/>
                    <a:pt x="12795" y="12795"/>
                  </a:cubicBezTo>
                  <a:cubicBezTo>
                    <a:pt x="20988" y="4603"/>
                    <a:pt x="32099" y="0"/>
                    <a:pt x="43685" y="0"/>
                  </a:cubicBezTo>
                  <a:close/>
                </a:path>
              </a:pathLst>
            </a:custGeom>
            <a:solidFill>
              <a:srgbClr val="F1F2F6"/>
            </a:solidFill>
            <a:ln w="19050" cap="sq">
              <a:solidFill>
                <a:srgbClr val="011142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19050"/>
              <a:ext cx="933511" cy="2049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679"/>
                </a:lnSpc>
                <a:spcBef>
                  <a:spcPct val="0"/>
                </a:spcBef>
              </a:pPr>
              <a:r>
                <a:rPr lang="en-US" b="true" sz="1200">
                  <a:solidFill>
                    <a:srgbClr val="011142"/>
                  </a:solidFill>
                  <a:latin typeface="TT Firs Neue Bold"/>
                  <a:ea typeface="TT Firs Neue Bold"/>
                  <a:cs typeface="TT Firs Neue Bold"/>
                  <a:sym typeface="TT Firs Neue Bold"/>
                </a:rPr>
                <a:t>Suspicious Links</a:t>
              </a: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11698759" y="1798523"/>
            <a:ext cx="5560541" cy="4114800"/>
          </a:xfrm>
          <a:custGeom>
            <a:avLst/>
            <a:gdLst/>
            <a:ahLst/>
            <a:cxnLst/>
            <a:rect r="r" b="b" t="t" l="l"/>
            <a:pathLst>
              <a:path h="4114800" w="5560541">
                <a:moveTo>
                  <a:pt x="0" y="0"/>
                </a:moveTo>
                <a:lnTo>
                  <a:pt x="5560541" y="0"/>
                </a:lnTo>
                <a:lnTo>
                  <a:pt x="556054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21" id="21"/>
          <p:cNvSpPr/>
          <p:nvPr/>
        </p:nvSpPr>
        <p:spPr>
          <a:xfrm flipH="false" flipV="false" rot="0">
            <a:off x="8816521" y="2757505"/>
            <a:ext cx="4068420" cy="1531205"/>
          </a:xfrm>
          <a:custGeom>
            <a:avLst/>
            <a:gdLst/>
            <a:ahLst/>
            <a:cxnLst/>
            <a:rect r="r" b="b" t="t" l="l"/>
            <a:pathLst>
              <a:path h="1531205" w="4068420">
                <a:moveTo>
                  <a:pt x="0" y="0"/>
                </a:moveTo>
                <a:lnTo>
                  <a:pt x="4068420" y="0"/>
                </a:lnTo>
                <a:lnTo>
                  <a:pt x="4068420" y="1531205"/>
                </a:lnTo>
                <a:lnTo>
                  <a:pt x="0" y="153120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22" id="22"/>
          <p:cNvSpPr txBox="true"/>
          <p:nvPr/>
        </p:nvSpPr>
        <p:spPr>
          <a:xfrm rot="0">
            <a:off x="1028700" y="3466316"/>
            <a:ext cx="7088850" cy="516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712"/>
              </a:lnSpc>
            </a:pPr>
            <a:r>
              <a:rPr lang="en-US" b="true" sz="4080">
                <a:solidFill>
                  <a:srgbClr val="011142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Recognize Phishing Emails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28700" y="2639418"/>
            <a:ext cx="4898318" cy="5127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712"/>
              </a:lnSpc>
            </a:pPr>
            <a:r>
              <a:rPr lang="en-US" sz="4080">
                <a:solidFill>
                  <a:srgbClr val="011142"/>
                </a:solidFill>
                <a:latin typeface="TT Firs Neue"/>
                <a:ea typeface="TT Firs Neue"/>
                <a:cs typeface="TT Firs Neue"/>
                <a:sym typeface="TT Firs Neue"/>
              </a:rPr>
              <a:t>How to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669533" y="5594990"/>
            <a:ext cx="4262760" cy="9020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789"/>
              </a:lnSpc>
            </a:pPr>
            <a:r>
              <a:rPr lang="en-US" sz="1569">
                <a:solidFill>
                  <a:srgbClr val="011142"/>
                </a:solidFill>
                <a:latin typeface="TT Firs Neue"/>
                <a:ea typeface="TT Firs Neue"/>
                <a:cs typeface="TT Firs Neue"/>
                <a:sym typeface="TT Firs Neue"/>
              </a:rPr>
              <a:t>Emails from unknown or misspelled domains (e.g., support@paypa1.com) are red flags. Always verify the sender's full email address carefully.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5966455" y="5630711"/>
            <a:ext cx="5442894" cy="7360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18"/>
              </a:lnSpc>
              <a:spcBef>
                <a:spcPct val="0"/>
              </a:spcBef>
            </a:pPr>
            <a:r>
              <a:rPr lang="en-US" sz="1682" strike="noStrike" u="none">
                <a:solidFill>
                  <a:srgbClr val="011142"/>
                </a:solidFill>
                <a:latin typeface="TT Firs Neue"/>
                <a:ea typeface="TT Firs Neue"/>
                <a:cs typeface="TT Firs Neue"/>
                <a:sym typeface="TT Firs Neue"/>
              </a:rPr>
              <a:t>Phishing emails use urgency like "Act now!" or "Your account will be closed!" to pressure you into clicking links without thinking.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2054739" y="8178107"/>
            <a:ext cx="4056018" cy="9167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818"/>
              </a:lnSpc>
              <a:spcBef>
                <a:spcPct val="0"/>
              </a:spcBef>
            </a:pPr>
            <a:r>
              <a:rPr lang="en-US" sz="1595" strike="noStrike" u="none">
                <a:solidFill>
                  <a:srgbClr val="011142"/>
                </a:solidFill>
                <a:latin typeface="TT Firs Neue"/>
                <a:ea typeface="TT Firs Neue"/>
                <a:cs typeface="TT Firs Neue"/>
                <a:sym typeface="TT Firs Neue"/>
              </a:rPr>
              <a:t>Legitimate companies rarely ask for passwords, SSNs, or credit card numbers via email. Never share sensitive data through email links.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669533" y="8219922"/>
            <a:ext cx="4313235" cy="8749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736"/>
              </a:lnSpc>
            </a:pPr>
            <a:r>
              <a:rPr lang="en-US" sz="1523">
                <a:solidFill>
                  <a:srgbClr val="011142"/>
                </a:solidFill>
                <a:latin typeface="TT Firs Neue"/>
                <a:ea typeface="TT Firs Neue"/>
                <a:cs typeface="TT Firs Neue"/>
                <a:sym typeface="TT Firs Neue"/>
              </a:rPr>
              <a:t>Poor grammar, odd phrasing, and typos are common signs of phishing. Professional organizations send well-written, polished communications.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6291835" y="8204479"/>
            <a:ext cx="4166672" cy="6305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92"/>
              </a:lnSpc>
              <a:spcBef>
                <a:spcPct val="0"/>
              </a:spcBef>
            </a:pPr>
            <a:r>
              <a:rPr lang="en-US" sz="1485" strike="noStrike" u="none">
                <a:solidFill>
                  <a:srgbClr val="011142"/>
                </a:solidFill>
                <a:latin typeface="TT Firs Neue"/>
                <a:ea typeface="TT Firs Neue"/>
                <a:cs typeface="TT Firs Neue"/>
                <a:sym typeface="TT Firs Neue"/>
              </a:rPr>
              <a:t>Hover over links before clicking. Phishing URLs often mimic real sites with subtle changes like extra characters or wrong domain endings.</a:t>
            </a:r>
          </a:p>
        </p:txBody>
      </p:sp>
      <p:sp>
        <p:nvSpPr>
          <p:cNvPr name="Freeform 29" id="29"/>
          <p:cNvSpPr/>
          <p:nvPr/>
        </p:nvSpPr>
        <p:spPr>
          <a:xfrm flipH="true" flipV="false" rot="0">
            <a:off x="12884941" y="496685"/>
            <a:ext cx="7315200" cy="1064029"/>
          </a:xfrm>
          <a:custGeom>
            <a:avLst/>
            <a:gdLst/>
            <a:ahLst/>
            <a:cxnLst/>
            <a:rect r="r" b="b" t="t" l="l"/>
            <a:pathLst>
              <a:path h="1064029" w="7315200">
                <a:moveTo>
                  <a:pt x="7315200" y="0"/>
                </a:moveTo>
                <a:lnTo>
                  <a:pt x="0" y="0"/>
                </a:lnTo>
                <a:lnTo>
                  <a:pt x="0" y="1064030"/>
                </a:lnTo>
                <a:lnTo>
                  <a:pt x="7315200" y="1064030"/>
                </a:lnTo>
                <a:lnTo>
                  <a:pt x="731520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B0CE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13090922" y="8809448"/>
            <a:ext cx="7315200" cy="1064029"/>
          </a:xfrm>
          <a:custGeom>
            <a:avLst/>
            <a:gdLst/>
            <a:ahLst/>
            <a:cxnLst/>
            <a:rect r="r" b="b" t="t" l="l"/>
            <a:pathLst>
              <a:path h="1064029" w="7315200">
                <a:moveTo>
                  <a:pt x="7315200" y="0"/>
                </a:moveTo>
                <a:lnTo>
                  <a:pt x="0" y="0"/>
                </a:lnTo>
                <a:lnTo>
                  <a:pt x="0" y="1064029"/>
                </a:lnTo>
                <a:lnTo>
                  <a:pt x="7315200" y="1064029"/>
                </a:lnTo>
                <a:lnTo>
                  <a:pt x="731520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140376" y="2374272"/>
            <a:ext cx="5069148" cy="6884028"/>
          </a:xfrm>
          <a:custGeom>
            <a:avLst/>
            <a:gdLst/>
            <a:ahLst/>
            <a:cxnLst/>
            <a:rect r="r" b="b" t="t" l="l"/>
            <a:pathLst>
              <a:path h="6884028" w="5069148">
                <a:moveTo>
                  <a:pt x="0" y="0"/>
                </a:moveTo>
                <a:lnTo>
                  <a:pt x="5069148" y="0"/>
                </a:lnTo>
                <a:lnTo>
                  <a:pt x="5069148" y="6884028"/>
                </a:lnTo>
                <a:lnTo>
                  <a:pt x="0" y="688402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1258078" y="3855923"/>
            <a:ext cx="2833743" cy="3154977"/>
          </a:xfrm>
          <a:custGeom>
            <a:avLst/>
            <a:gdLst/>
            <a:ahLst/>
            <a:cxnLst/>
            <a:rect r="r" b="b" t="t" l="l"/>
            <a:pathLst>
              <a:path h="3154977" w="2833743">
                <a:moveTo>
                  <a:pt x="0" y="0"/>
                </a:moveTo>
                <a:lnTo>
                  <a:pt x="2833743" y="0"/>
                </a:lnTo>
                <a:lnTo>
                  <a:pt x="2833743" y="3154977"/>
                </a:lnTo>
                <a:lnTo>
                  <a:pt x="0" y="315497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5" id="5"/>
          <p:cNvSpPr txBox="true"/>
          <p:nvPr/>
        </p:nvSpPr>
        <p:spPr>
          <a:xfrm rot="0">
            <a:off x="1028700" y="3542516"/>
            <a:ext cx="7088850" cy="8076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911"/>
              </a:lnSpc>
            </a:pPr>
            <a:r>
              <a:rPr lang="en-US" b="true" sz="6496">
                <a:solidFill>
                  <a:srgbClr val="011142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Websites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2715618"/>
            <a:ext cx="6573172" cy="8073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911"/>
              </a:lnSpc>
            </a:pPr>
            <a:r>
              <a:rPr lang="en-US" sz="6496">
                <a:solidFill>
                  <a:srgbClr val="011142"/>
                </a:solidFill>
                <a:latin typeface="TT Firs Neue"/>
                <a:ea typeface="TT Firs Neue"/>
                <a:cs typeface="TT Firs Neue"/>
                <a:sym typeface="TT Firs Neue"/>
              </a:rPr>
              <a:t>Spotting Fake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4730332"/>
            <a:ext cx="7584236" cy="10446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98"/>
              </a:lnSpc>
            </a:pPr>
            <a:r>
              <a:rPr lang="en-US" sz="1998">
                <a:solidFill>
                  <a:srgbClr val="011142"/>
                </a:solidFill>
                <a:latin typeface="TT Firs Neue"/>
                <a:ea typeface="TT Firs Neue"/>
                <a:cs typeface="TT Firs Neue"/>
                <a:sym typeface="TT Firs Neue"/>
              </a:rPr>
              <a:t>Check the URL carefully for misspellings or extra characters. Always look for HTTPS and a padlock icon in the browser bar. Verify the domain name matches the official site exactly.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6508332"/>
            <a:ext cx="7584236" cy="13970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98"/>
              </a:lnSpc>
            </a:pPr>
            <a:r>
              <a:rPr lang="en-US" sz="1998">
                <a:solidFill>
                  <a:srgbClr val="011142"/>
                </a:solidFill>
                <a:latin typeface="TT Firs Neue"/>
                <a:ea typeface="TT Firs Neue"/>
                <a:cs typeface="TT Firs Neue"/>
                <a:sym typeface="TT Firs Neue"/>
              </a:rPr>
              <a:t>Watch for poor design, broken layouts, or low-quality images. Never click links directly from emails — type the URL manually. When in doubt, close the page and contact the organization directly.</a:t>
            </a:r>
          </a:p>
        </p:txBody>
      </p:sp>
      <p:sp>
        <p:nvSpPr>
          <p:cNvPr name="Freeform 9" id="9"/>
          <p:cNvSpPr/>
          <p:nvPr/>
        </p:nvSpPr>
        <p:spPr>
          <a:xfrm flipH="true" flipV="false" rot="0">
            <a:off x="-2118122" y="413523"/>
            <a:ext cx="7315200" cy="1064029"/>
          </a:xfrm>
          <a:custGeom>
            <a:avLst/>
            <a:gdLst/>
            <a:ahLst/>
            <a:cxnLst/>
            <a:rect r="r" b="b" t="t" l="l"/>
            <a:pathLst>
              <a:path h="1064029" w="7315200">
                <a:moveTo>
                  <a:pt x="7315200" y="0"/>
                </a:moveTo>
                <a:lnTo>
                  <a:pt x="0" y="0"/>
                </a:lnTo>
                <a:lnTo>
                  <a:pt x="0" y="1064029"/>
                </a:lnTo>
                <a:lnTo>
                  <a:pt x="7315200" y="1064029"/>
                </a:lnTo>
                <a:lnTo>
                  <a:pt x="731520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B0CE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5355807"/>
            <a:ext cx="2103283" cy="1564421"/>
            <a:chOff x="0" y="0"/>
            <a:chExt cx="553951" cy="41202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53951" cy="412029"/>
            </a:xfrm>
            <a:custGeom>
              <a:avLst/>
              <a:gdLst/>
              <a:ahLst/>
              <a:cxnLst/>
              <a:rect r="r" b="b" t="t" l="l"/>
              <a:pathLst>
                <a:path h="412029" w="553951">
                  <a:moveTo>
                    <a:pt x="88341" y="0"/>
                  </a:moveTo>
                  <a:lnTo>
                    <a:pt x="465610" y="0"/>
                  </a:lnTo>
                  <a:cubicBezTo>
                    <a:pt x="514400" y="0"/>
                    <a:pt x="553951" y="39552"/>
                    <a:pt x="553951" y="88341"/>
                  </a:cubicBezTo>
                  <a:lnTo>
                    <a:pt x="553951" y="323688"/>
                  </a:lnTo>
                  <a:cubicBezTo>
                    <a:pt x="553951" y="372477"/>
                    <a:pt x="514400" y="412029"/>
                    <a:pt x="465610" y="412029"/>
                  </a:cubicBezTo>
                  <a:lnTo>
                    <a:pt x="88341" y="412029"/>
                  </a:lnTo>
                  <a:cubicBezTo>
                    <a:pt x="39552" y="412029"/>
                    <a:pt x="0" y="372477"/>
                    <a:pt x="0" y="323688"/>
                  </a:cubicBezTo>
                  <a:lnTo>
                    <a:pt x="0" y="88341"/>
                  </a:lnTo>
                  <a:cubicBezTo>
                    <a:pt x="0" y="39552"/>
                    <a:pt x="39552" y="0"/>
                    <a:pt x="88341" y="0"/>
                  </a:cubicBezTo>
                  <a:close/>
                </a:path>
              </a:pathLst>
            </a:custGeom>
            <a:solidFill>
              <a:srgbClr val="F1F2F6"/>
            </a:solidFill>
            <a:ln w="19050" cap="rnd">
              <a:solidFill>
                <a:srgbClr val="011142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553951" cy="4406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512265" y="5452514"/>
            <a:ext cx="1139463" cy="1170180"/>
          </a:xfrm>
          <a:custGeom>
            <a:avLst/>
            <a:gdLst/>
            <a:ahLst/>
            <a:cxnLst/>
            <a:rect r="r" b="b" t="t" l="l"/>
            <a:pathLst>
              <a:path h="1170180" w="1139463">
                <a:moveTo>
                  <a:pt x="0" y="0"/>
                </a:moveTo>
                <a:lnTo>
                  <a:pt x="1139463" y="0"/>
                </a:lnTo>
                <a:lnTo>
                  <a:pt x="1139463" y="1170180"/>
                </a:lnTo>
                <a:lnTo>
                  <a:pt x="0" y="11701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028700" y="7282178"/>
            <a:ext cx="2103283" cy="1564421"/>
            <a:chOff x="0" y="0"/>
            <a:chExt cx="553951" cy="41202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53951" cy="412029"/>
            </a:xfrm>
            <a:custGeom>
              <a:avLst/>
              <a:gdLst/>
              <a:ahLst/>
              <a:cxnLst/>
              <a:rect r="r" b="b" t="t" l="l"/>
              <a:pathLst>
                <a:path h="412029" w="553951">
                  <a:moveTo>
                    <a:pt x="88341" y="0"/>
                  </a:moveTo>
                  <a:lnTo>
                    <a:pt x="465610" y="0"/>
                  </a:lnTo>
                  <a:cubicBezTo>
                    <a:pt x="514400" y="0"/>
                    <a:pt x="553951" y="39552"/>
                    <a:pt x="553951" y="88341"/>
                  </a:cubicBezTo>
                  <a:lnTo>
                    <a:pt x="553951" y="323688"/>
                  </a:lnTo>
                  <a:cubicBezTo>
                    <a:pt x="553951" y="372477"/>
                    <a:pt x="514400" y="412029"/>
                    <a:pt x="465610" y="412029"/>
                  </a:cubicBezTo>
                  <a:lnTo>
                    <a:pt x="88341" y="412029"/>
                  </a:lnTo>
                  <a:cubicBezTo>
                    <a:pt x="39552" y="412029"/>
                    <a:pt x="0" y="372477"/>
                    <a:pt x="0" y="323688"/>
                  </a:cubicBezTo>
                  <a:lnTo>
                    <a:pt x="0" y="88341"/>
                  </a:lnTo>
                  <a:cubicBezTo>
                    <a:pt x="0" y="39552"/>
                    <a:pt x="39552" y="0"/>
                    <a:pt x="88341" y="0"/>
                  </a:cubicBezTo>
                  <a:close/>
                </a:path>
              </a:pathLst>
            </a:custGeom>
            <a:solidFill>
              <a:srgbClr val="F1F2F6"/>
            </a:solidFill>
            <a:ln w="19050" cap="rnd">
              <a:solidFill>
                <a:srgbClr val="011142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553951" cy="4406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604130" y="7403491"/>
            <a:ext cx="1124353" cy="1309320"/>
          </a:xfrm>
          <a:custGeom>
            <a:avLst/>
            <a:gdLst/>
            <a:ahLst/>
            <a:cxnLst/>
            <a:rect r="r" b="b" t="t" l="l"/>
            <a:pathLst>
              <a:path h="1309320" w="1124353">
                <a:moveTo>
                  <a:pt x="0" y="0"/>
                </a:moveTo>
                <a:lnTo>
                  <a:pt x="1124353" y="0"/>
                </a:lnTo>
                <a:lnTo>
                  <a:pt x="1124353" y="1309320"/>
                </a:lnTo>
                <a:lnTo>
                  <a:pt x="0" y="13093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0" id="10"/>
          <p:cNvSpPr/>
          <p:nvPr/>
        </p:nvSpPr>
        <p:spPr>
          <a:xfrm flipH="false" flipV="false" rot="0">
            <a:off x="10800413" y="1536329"/>
            <a:ext cx="9761529" cy="9651712"/>
          </a:xfrm>
          <a:custGeom>
            <a:avLst/>
            <a:gdLst/>
            <a:ahLst/>
            <a:cxnLst/>
            <a:rect r="r" b="b" t="t" l="l"/>
            <a:pathLst>
              <a:path h="9651712" w="9761529">
                <a:moveTo>
                  <a:pt x="0" y="0"/>
                </a:moveTo>
                <a:lnTo>
                  <a:pt x="9761529" y="0"/>
                </a:lnTo>
                <a:lnTo>
                  <a:pt x="9761529" y="9651712"/>
                </a:lnTo>
                <a:lnTo>
                  <a:pt x="0" y="965171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1" id="11"/>
          <p:cNvSpPr/>
          <p:nvPr/>
        </p:nvSpPr>
        <p:spPr>
          <a:xfrm flipH="false" flipV="false" rot="0">
            <a:off x="9144000" y="5568785"/>
            <a:ext cx="3028032" cy="3426785"/>
          </a:xfrm>
          <a:custGeom>
            <a:avLst/>
            <a:gdLst/>
            <a:ahLst/>
            <a:cxnLst/>
            <a:rect r="r" b="b" t="t" l="l"/>
            <a:pathLst>
              <a:path h="3426785" w="3028032">
                <a:moveTo>
                  <a:pt x="0" y="0"/>
                </a:moveTo>
                <a:lnTo>
                  <a:pt x="3028032" y="0"/>
                </a:lnTo>
                <a:lnTo>
                  <a:pt x="3028032" y="3426785"/>
                </a:lnTo>
                <a:lnTo>
                  <a:pt x="0" y="342678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2" id="12"/>
          <p:cNvSpPr/>
          <p:nvPr/>
        </p:nvSpPr>
        <p:spPr>
          <a:xfrm flipH="false" flipV="false" rot="0">
            <a:off x="12950540" y="6860850"/>
            <a:ext cx="1001255" cy="1598811"/>
          </a:xfrm>
          <a:custGeom>
            <a:avLst/>
            <a:gdLst/>
            <a:ahLst/>
            <a:cxnLst/>
            <a:rect r="r" b="b" t="t" l="l"/>
            <a:pathLst>
              <a:path h="1598811" w="1001255">
                <a:moveTo>
                  <a:pt x="0" y="0"/>
                </a:moveTo>
                <a:lnTo>
                  <a:pt x="1001255" y="0"/>
                </a:lnTo>
                <a:lnTo>
                  <a:pt x="1001255" y="1598811"/>
                </a:lnTo>
                <a:lnTo>
                  <a:pt x="0" y="159881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13" id="13"/>
          <p:cNvSpPr txBox="true"/>
          <p:nvPr/>
        </p:nvSpPr>
        <p:spPr>
          <a:xfrm rot="0">
            <a:off x="1028700" y="3542516"/>
            <a:ext cx="7088850" cy="15569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911"/>
              </a:lnSpc>
            </a:pPr>
            <a:r>
              <a:rPr lang="en-US" b="true" sz="6496">
                <a:solidFill>
                  <a:srgbClr val="011142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Tactics Used by</a:t>
            </a:r>
          </a:p>
          <a:p>
            <a:pPr algn="l" marL="0" indent="0" lvl="0">
              <a:lnSpc>
                <a:spcPts val="5911"/>
              </a:lnSpc>
            </a:pPr>
            <a:r>
              <a:rPr lang="en-US" b="true" sz="6496">
                <a:solidFill>
                  <a:srgbClr val="011142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Attackers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28700" y="2687043"/>
            <a:ext cx="6531742" cy="7364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323"/>
              </a:lnSpc>
            </a:pPr>
            <a:r>
              <a:rPr lang="en-US" sz="5849">
                <a:solidFill>
                  <a:srgbClr val="011142"/>
                </a:solidFill>
                <a:latin typeface="TT Firs Neue"/>
                <a:ea typeface="TT Firs Neue"/>
                <a:cs typeface="TT Firs Neue"/>
                <a:sym typeface="TT Firs Neue"/>
              </a:rPr>
              <a:t>Social Engineering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510213" y="5420467"/>
            <a:ext cx="5150480" cy="13970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98"/>
              </a:lnSpc>
            </a:pPr>
            <a:r>
              <a:rPr lang="en-US" sz="1998">
                <a:solidFill>
                  <a:srgbClr val="011142"/>
                </a:solidFill>
                <a:latin typeface="TT Firs Neue"/>
                <a:ea typeface="TT Firs Neue"/>
                <a:cs typeface="TT Firs Neue"/>
                <a:sym typeface="TT Firs Neue"/>
              </a:rPr>
              <a:t>Pretexting: Attackers create a fabricated scenario (e.g., posing as IT support or a bank) to trick victims into revealing sensitive information or granting access.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3510213" y="7346838"/>
            <a:ext cx="5150480" cy="13970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98"/>
              </a:lnSpc>
            </a:pPr>
            <a:r>
              <a:rPr lang="en-US" sz="1998">
                <a:solidFill>
                  <a:srgbClr val="011142"/>
                </a:solidFill>
                <a:latin typeface="TT Firs Neue"/>
                <a:ea typeface="TT Firs Neue"/>
                <a:cs typeface="TT Firs Neue"/>
                <a:sym typeface="TT Firs Neue"/>
              </a:rPr>
              <a:t>Baiting: Attackers lure victims with something enticing — like a free download or USB drive — that secretly delivers malware or harvests credentials.</a:t>
            </a:r>
          </a:p>
        </p:txBody>
      </p:sp>
      <p:sp>
        <p:nvSpPr>
          <p:cNvPr name="Freeform 17" id="17"/>
          <p:cNvSpPr/>
          <p:nvPr/>
        </p:nvSpPr>
        <p:spPr>
          <a:xfrm flipH="true" flipV="false" rot="0">
            <a:off x="13090922" y="8809448"/>
            <a:ext cx="7315200" cy="1064029"/>
          </a:xfrm>
          <a:custGeom>
            <a:avLst/>
            <a:gdLst/>
            <a:ahLst/>
            <a:cxnLst/>
            <a:rect r="r" b="b" t="t" l="l"/>
            <a:pathLst>
              <a:path h="1064029" w="7315200">
                <a:moveTo>
                  <a:pt x="7315200" y="0"/>
                </a:moveTo>
                <a:lnTo>
                  <a:pt x="0" y="0"/>
                </a:lnTo>
                <a:lnTo>
                  <a:pt x="0" y="1064029"/>
                </a:lnTo>
                <a:lnTo>
                  <a:pt x="7315200" y="1064029"/>
                </a:lnTo>
                <a:lnTo>
                  <a:pt x="731520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true" flipV="false" rot="0">
            <a:off x="-2118122" y="413523"/>
            <a:ext cx="7315200" cy="1064029"/>
          </a:xfrm>
          <a:custGeom>
            <a:avLst/>
            <a:gdLst/>
            <a:ahLst/>
            <a:cxnLst/>
            <a:rect r="r" b="b" t="t" l="l"/>
            <a:pathLst>
              <a:path h="1064029" w="7315200">
                <a:moveTo>
                  <a:pt x="7315200" y="0"/>
                </a:moveTo>
                <a:lnTo>
                  <a:pt x="0" y="0"/>
                </a:lnTo>
                <a:lnTo>
                  <a:pt x="0" y="1064029"/>
                </a:lnTo>
                <a:lnTo>
                  <a:pt x="7315200" y="1064029"/>
                </a:lnTo>
                <a:lnTo>
                  <a:pt x="731520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B0CE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715451" y="3855923"/>
            <a:ext cx="5643891" cy="4176480"/>
          </a:xfrm>
          <a:custGeom>
            <a:avLst/>
            <a:gdLst/>
            <a:ahLst/>
            <a:cxnLst/>
            <a:rect r="r" b="b" t="t" l="l"/>
            <a:pathLst>
              <a:path h="4176480" w="5643891">
                <a:moveTo>
                  <a:pt x="0" y="0"/>
                </a:moveTo>
                <a:lnTo>
                  <a:pt x="5643892" y="0"/>
                </a:lnTo>
                <a:lnTo>
                  <a:pt x="5643892" y="4176480"/>
                </a:lnTo>
                <a:lnTo>
                  <a:pt x="0" y="41764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8918568" y="4762603"/>
            <a:ext cx="2696841" cy="2696841"/>
          </a:xfrm>
          <a:custGeom>
            <a:avLst/>
            <a:gdLst/>
            <a:ahLst/>
            <a:cxnLst/>
            <a:rect r="r" b="b" t="t" l="l"/>
            <a:pathLst>
              <a:path h="2696841" w="2696841">
                <a:moveTo>
                  <a:pt x="0" y="0"/>
                </a:moveTo>
                <a:lnTo>
                  <a:pt x="2696841" y="0"/>
                </a:lnTo>
                <a:lnTo>
                  <a:pt x="2696841" y="2696841"/>
                </a:lnTo>
                <a:lnTo>
                  <a:pt x="0" y="269684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4666964" y="2827223"/>
            <a:ext cx="2592336" cy="2592336"/>
          </a:xfrm>
          <a:custGeom>
            <a:avLst/>
            <a:gdLst/>
            <a:ahLst/>
            <a:cxnLst/>
            <a:rect r="r" b="b" t="t" l="l"/>
            <a:pathLst>
              <a:path h="2592336" w="2592336">
                <a:moveTo>
                  <a:pt x="0" y="0"/>
                </a:moveTo>
                <a:lnTo>
                  <a:pt x="2592336" y="0"/>
                </a:lnTo>
                <a:lnTo>
                  <a:pt x="2592336" y="2592336"/>
                </a:lnTo>
                <a:lnTo>
                  <a:pt x="0" y="259233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14770177" y="6812313"/>
            <a:ext cx="2059803" cy="2044823"/>
          </a:xfrm>
          <a:custGeom>
            <a:avLst/>
            <a:gdLst/>
            <a:ahLst/>
            <a:cxnLst/>
            <a:rect r="r" b="b" t="t" l="l"/>
            <a:pathLst>
              <a:path h="2044823" w="2059803">
                <a:moveTo>
                  <a:pt x="0" y="0"/>
                </a:moveTo>
                <a:lnTo>
                  <a:pt x="2059804" y="0"/>
                </a:lnTo>
                <a:lnTo>
                  <a:pt x="2059804" y="2044823"/>
                </a:lnTo>
                <a:lnTo>
                  <a:pt x="0" y="204482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11110143" y="2032849"/>
            <a:ext cx="2427254" cy="1588748"/>
          </a:xfrm>
          <a:custGeom>
            <a:avLst/>
            <a:gdLst/>
            <a:ahLst/>
            <a:cxnLst/>
            <a:rect r="r" b="b" t="t" l="l"/>
            <a:pathLst>
              <a:path h="1588748" w="2427254">
                <a:moveTo>
                  <a:pt x="0" y="0"/>
                </a:moveTo>
                <a:lnTo>
                  <a:pt x="2427254" y="0"/>
                </a:lnTo>
                <a:lnTo>
                  <a:pt x="2427254" y="1588748"/>
                </a:lnTo>
                <a:lnTo>
                  <a:pt x="0" y="158874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7" id="7"/>
          <p:cNvSpPr txBox="true"/>
          <p:nvPr/>
        </p:nvSpPr>
        <p:spPr>
          <a:xfrm rot="0">
            <a:off x="1028700" y="2715618"/>
            <a:ext cx="7088850" cy="8073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911"/>
              </a:lnSpc>
            </a:pPr>
            <a:r>
              <a:rPr lang="en-US" sz="6496">
                <a:solidFill>
                  <a:srgbClr val="011142"/>
                </a:solidFill>
                <a:latin typeface="TT Firs Neue"/>
                <a:ea typeface="TT Firs Neue"/>
                <a:cs typeface="TT Firs Neue"/>
                <a:sym typeface="TT Firs Neue"/>
              </a:rPr>
              <a:t>Best Practices to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829717" y="3542516"/>
            <a:ext cx="7088850" cy="8076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911"/>
              </a:lnSpc>
            </a:pPr>
            <a:r>
              <a:rPr lang="en-US" b="true" sz="6496">
                <a:solidFill>
                  <a:srgbClr val="011142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Avoid Phishing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4730332"/>
            <a:ext cx="7088850" cy="13970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98"/>
              </a:lnSpc>
            </a:pPr>
            <a:r>
              <a:rPr lang="en-US" sz="1998">
                <a:solidFill>
                  <a:srgbClr val="011142"/>
                </a:solidFill>
                <a:latin typeface="TT Firs Neue"/>
                <a:ea typeface="TT Firs Neue"/>
                <a:cs typeface="TT Firs Neue"/>
                <a:sym typeface="TT Firs Neue"/>
              </a:rPr>
              <a:t>✔ Verify the sender's email address carefully before responding or clicking any links. Look for subtle misspellings or unusual domains that mimic legitimate organizations.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6640495"/>
            <a:ext cx="7088850" cy="13970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98"/>
              </a:lnSpc>
            </a:pPr>
            <a:r>
              <a:rPr lang="en-US" sz="1998">
                <a:solidFill>
                  <a:srgbClr val="011142"/>
                </a:solidFill>
                <a:latin typeface="TT Firs Neue"/>
                <a:ea typeface="TT Firs Neue"/>
                <a:cs typeface="TT Firs Neue"/>
                <a:sym typeface="TT Firs Neue"/>
              </a:rPr>
              <a:t>✔ Hover over links before clicking to preview the URL. Enable multi-factor authentication (MFA), report suspicious emails to IT, and keep your software and antivirus updated at all times.</a:t>
            </a:r>
          </a:p>
        </p:txBody>
      </p:sp>
      <p:sp>
        <p:nvSpPr>
          <p:cNvPr name="Freeform 11" id="11"/>
          <p:cNvSpPr/>
          <p:nvPr/>
        </p:nvSpPr>
        <p:spPr>
          <a:xfrm flipH="true" flipV="false" rot="0">
            <a:off x="13090922" y="8809448"/>
            <a:ext cx="7315200" cy="1064029"/>
          </a:xfrm>
          <a:custGeom>
            <a:avLst/>
            <a:gdLst/>
            <a:ahLst/>
            <a:cxnLst/>
            <a:rect r="r" b="b" t="t" l="l"/>
            <a:pathLst>
              <a:path h="1064029" w="7315200">
                <a:moveTo>
                  <a:pt x="7315200" y="0"/>
                </a:moveTo>
                <a:lnTo>
                  <a:pt x="0" y="0"/>
                </a:lnTo>
                <a:lnTo>
                  <a:pt x="0" y="1064029"/>
                </a:lnTo>
                <a:lnTo>
                  <a:pt x="7315200" y="1064029"/>
                </a:lnTo>
                <a:lnTo>
                  <a:pt x="731520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true" flipV="false" rot="0">
            <a:off x="-2118122" y="413523"/>
            <a:ext cx="7315200" cy="1064029"/>
          </a:xfrm>
          <a:custGeom>
            <a:avLst/>
            <a:gdLst/>
            <a:ahLst/>
            <a:cxnLst/>
            <a:rect r="r" b="b" t="t" l="l"/>
            <a:pathLst>
              <a:path h="1064029" w="7315200">
                <a:moveTo>
                  <a:pt x="7315200" y="0"/>
                </a:moveTo>
                <a:lnTo>
                  <a:pt x="0" y="0"/>
                </a:lnTo>
                <a:lnTo>
                  <a:pt x="0" y="1064029"/>
                </a:lnTo>
                <a:lnTo>
                  <a:pt x="7315200" y="1064029"/>
                </a:lnTo>
                <a:lnTo>
                  <a:pt x="731520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B0CE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664766" y="1533111"/>
            <a:ext cx="3699376" cy="7218295"/>
          </a:xfrm>
          <a:custGeom>
            <a:avLst/>
            <a:gdLst/>
            <a:ahLst/>
            <a:cxnLst/>
            <a:rect r="r" b="b" t="t" l="l"/>
            <a:pathLst>
              <a:path h="7218295" w="3699376">
                <a:moveTo>
                  <a:pt x="0" y="0"/>
                </a:moveTo>
                <a:lnTo>
                  <a:pt x="3699376" y="0"/>
                </a:lnTo>
                <a:lnTo>
                  <a:pt x="3699376" y="7218295"/>
                </a:lnTo>
                <a:lnTo>
                  <a:pt x="0" y="721829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3146810" y="-423687"/>
            <a:ext cx="4777044" cy="5916015"/>
          </a:xfrm>
          <a:custGeom>
            <a:avLst/>
            <a:gdLst/>
            <a:ahLst/>
            <a:cxnLst/>
            <a:rect r="r" b="b" t="t" l="l"/>
            <a:pathLst>
              <a:path h="5916015" w="4777044">
                <a:moveTo>
                  <a:pt x="0" y="0"/>
                </a:moveTo>
                <a:lnTo>
                  <a:pt x="4777043" y="0"/>
                </a:lnTo>
                <a:lnTo>
                  <a:pt x="4777043" y="5916015"/>
                </a:lnTo>
                <a:lnTo>
                  <a:pt x="0" y="591601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4" id="4"/>
          <p:cNvSpPr txBox="true"/>
          <p:nvPr/>
        </p:nvSpPr>
        <p:spPr>
          <a:xfrm rot="0">
            <a:off x="1028700" y="3513941"/>
            <a:ext cx="7088850" cy="7231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261"/>
              </a:lnSpc>
            </a:pPr>
            <a:r>
              <a:rPr lang="en-US" b="true" sz="5781">
                <a:solidFill>
                  <a:srgbClr val="011142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Phishing Examples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2687043"/>
            <a:ext cx="7088850" cy="727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261"/>
              </a:lnSpc>
            </a:pPr>
            <a:r>
              <a:rPr lang="en-US" sz="5781">
                <a:solidFill>
                  <a:srgbClr val="011142"/>
                </a:solidFill>
                <a:latin typeface="TT Firs Neue"/>
                <a:ea typeface="TT Firs Neue"/>
                <a:cs typeface="TT Firs Neue"/>
                <a:sym typeface="TT Firs Neue"/>
              </a:rPr>
              <a:t>Real-World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4510708"/>
            <a:ext cx="9018018" cy="14698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61"/>
              </a:lnSpc>
            </a:pPr>
            <a:r>
              <a:rPr lang="en-US" sz="2115">
                <a:solidFill>
                  <a:srgbClr val="011142"/>
                </a:solidFill>
                <a:latin typeface="TT Firs Neue"/>
                <a:ea typeface="TT Firs Neue"/>
                <a:cs typeface="TT Firs Neue"/>
                <a:sym typeface="TT Firs Neue"/>
              </a:rPr>
              <a:t>Fake Invoice Scam: Employees at a mid-size firm received emails mimicking a trusted vendor, requesting urgent payment to a new account. The spoofed domain looked nearly identical, and thousands were transferred before fraud was detected.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6247251"/>
            <a:ext cx="9248468" cy="15161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36"/>
              </a:lnSpc>
            </a:pPr>
            <a:r>
              <a:rPr lang="en-US" sz="2169">
                <a:solidFill>
                  <a:srgbClr val="011142"/>
                </a:solidFill>
                <a:latin typeface="TT Firs Neue"/>
                <a:ea typeface="TT Firs Neue"/>
                <a:cs typeface="TT Firs Neue"/>
                <a:sym typeface="TT Firs Neue"/>
              </a:rPr>
              <a:t>CEO Fraud: Staff received emails appearing to be from their CEO requesting a wire transfer. The attacker used a lookalike domain and urgent language. Always verify financial requests through a secondary channel before acting.</a:t>
            </a:r>
          </a:p>
        </p:txBody>
      </p:sp>
      <p:sp>
        <p:nvSpPr>
          <p:cNvPr name="Freeform 8" id="8"/>
          <p:cNvSpPr/>
          <p:nvPr/>
        </p:nvSpPr>
        <p:spPr>
          <a:xfrm flipH="true" flipV="false" rot="0">
            <a:off x="14492149" y="8726285"/>
            <a:ext cx="7315200" cy="1064029"/>
          </a:xfrm>
          <a:custGeom>
            <a:avLst/>
            <a:gdLst/>
            <a:ahLst/>
            <a:cxnLst/>
            <a:rect r="r" b="b" t="t" l="l"/>
            <a:pathLst>
              <a:path h="1064029" w="7315200">
                <a:moveTo>
                  <a:pt x="7315200" y="0"/>
                </a:moveTo>
                <a:lnTo>
                  <a:pt x="0" y="0"/>
                </a:lnTo>
                <a:lnTo>
                  <a:pt x="0" y="1064030"/>
                </a:lnTo>
                <a:lnTo>
                  <a:pt x="7315200" y="1064030"/>
                </a:lnTo>
                <a:lnTo>
                  <a:pt x="731520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B0CE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1759384"/>
            <a:ext cx="9344993" cy="6891932"/>
          </a:xfrm>
          <a:custGeom>
            <a:avLst/>
            <a:gdLst/>
            <a:ahLst/>
            <a:cxnLst/>
            <a:rect r="r" b="b" t="t" l="l"/>
            <a:pathLst>
              <a:path h="6891932" w="9344993">
                <a:moveTo>
                  <a:pt x="0" y="0"/>
                </a:moveTo>
                <a:lnTo>
                  <a:pt x="9344993" y="0"/>
                </a:lnTo>
                <a:lnTo>
                  <a:pt x="9344993" y="6891932"/>
                </a:lnTo>
                <a:lnTo>
                  <a:pt x="0" y="689193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3" id="3"/>
          <p:cNvSpPr txBox="true"/>
          <p:nvPr/>
        </p:nvSpPr>
        <p:spPr>
          <a:xfrm rot="0">
            <a:off x="10041503" y="715378"/>
            <a:ext cx="7088850" cy="8076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911"/>
              </a:lnSpc>
            </a:pPr>
            <a:r>
              <a:rPr lang="en-US" b="true" sz="6496">
                <a:solidFill>
                  <a:srgbClr val="011142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Knowledge!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058407" y="715675"/>
            <a:ext cx="6573172" cy="8073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911"/>
              </a:lnSpc>
            </a:pPr>
            <a:r>
              <a:rPr lang="en-US" sz="6496">
                <a:solidFill>
                  <a:srgbClr val="011142"/>
                </a:solidFill>
                <a:latin typeface="TT Firs Neue"/>
                <a:ea typeface="TT Firs Neue"/>
                <a:cs typeface="TT Firs Neue"/>
                <a:sym typeface="TT Firs Neue"/>
              </a:rPr>
              <a:t>Test Your</a:t>
            </a:r>
          </a:p>
        </p:txBody>
      </p:sp>
      <p:sp>
        <p:nvSpPr>
          <p:cNvPr name="Freeform 5" id="5"/>
          <p:cNvSpPr/>
          <p:nvPr/>
        </p:nvSpPr>
        <p:spPr>
          <a:xfrm flipH="true" flipV="false" rot="0">
            <a:off x="13090922" y="8809448"/>
            <a:ext cx="7315200" cy="1064029"/>
          </a:xfrm>
          <a:custGeom>
            <a:avLst/>
            <a:gdLst/>
            <a:ahLst/>
            <a:cxnLst/>
            <a:rect r="r" b="b" t="t" l="l"/>
            <a:pathLst>
              <a:path h="1064029" w="7315200">
                <a:moveTo>
                  <a:pt x="7315200" y="0"/>
                </a:moveTo>
                <a:lnTo>
                  <a:pt x="0" y="0"/>
                </a:lnTo>
                <a:lnTo>
                  <a:pt x="0" y="1064029"/>
                </a:lnTo>
                <a:lnTo>
                  <a:pt x="7315200" y="1064029"/>
                </a:lnTo>
                <a:lnTo>
                  <a:pt x="731520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-1625642" y="337791"/>
            <a:ext cx="7315200" cy="1064029"/>
          </a:xfrm>
          <a:custGeom>
            <a:avLst/>
            <a:gdLst/>
            <a:ahLst/>
            <a:cxnLst/>
            <a:rect r="r" b="b" t="t" l="l"/>
            <a:pathLst>
              <a:path h="1064029" w="7315200">
                <a:moveTo>
                  <a:pt x="7315200" y="0"/>
                </a:moveTo>
                <a:lnTo>
                  <a:pt x="0" y="0"/>
                </a:lnTo>
                <a:lnTo>
                  <a:pt x="0" y="1064029"/>
                </a:lnTo>
                <a:lnTo>
                  <a:pt x="7315200" y="1064029"/>
                </a:lnTo>
                <a:lnTo>
                  <a:pt x="731520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7" id="7"/>
          <p:cNvSpPr txBox="true"/>
          <p:nvPr/>
        </p:nvSpPr>
        <p:spPr>
          <a:xfrm rot="0">
            <a:off x="9344993" y="2934247"/>
            <a:ext cx="8481870" cy="4894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15"/>
              </a:lnSpc>
              <a:spcBef>
                <a:spcPct val="0"/>
              </a:spcBef>
            </a:pPr>
            <a:r>
              <a:rPr lang="en-US" b="true" sz="2511">
                <a:solidFill>
                  <a:srgbClr val="011142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1. The sender’s address looks slightly misspelled. Is it safe? Answer: No, small changes often signal a fake sender.</a:t>
            </a:r>
          </a:p>
          <a:p>
            <a:pPr algn="ctr">
              <a:lnSpc>
                <a:spcPts val="3515"/>
              </a:lnSpc>
              <a:spcBef>
                <a:spcPct val="0"/>
              </a:spcBef>
            </a:pPr>
            <a:r>
              <a:rPr lang="en-US" b="true" sz="2511">
                <a:solidFill>
                  <a:srgbClr val="011142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2. An email claims your account will be closed in one hour unless you click a link. What does this mean? Answer: It’s a pressure tactic often used in scams.</a:t>
            </a:r>
          </a:p>
          <a:p>
            <a:pPr algn="ctr">
              <a:lnSpc>
                <a:spcPts val="3515"/>
              </a:lnSpc>
              <a:spcBef>
                <a:spcPct val="0"/>
              </a:spcBef>
            </a:pPr>
            <a:r>
              <a:rPr lang="en-US" b="true" sz="2511">
                <a:solidFill>
                  <a:srgbClr val="011142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3. A message asks you to download an attachment you weren’t expecting. What now? Answer: Avoid opening it; unexpected files can contain harmful software.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B0CE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2361782"/>
            <a:ext cx="10998225" cy="6085958"/>
            <a:chOff x="0" y="0"/>
            <a:chExt cx="2896652" cy="160288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96652" cy="1602886"/>
            </a:xfrm>
            <a:custGeom>
              <a:avLst/>
              <a:gdLst/>
              <a:ahLst/>
              <a:cxnLst/>
              <a:rect r="r" b="b" t="t" l="l"/>
              <a:pathLst>
                <a:path h="1602886" w="2896652">
                  <a:moveTo>
                    <a:pt x="35900" y="0"/>
                  </a:moveTo>
                  <a:lnTo>
                    <a:pt x="2860752" y="0"/>
                  </a:lnTo>
                  <a:cubicBezTo>
                    <a:pt x="2870273" y="0"/>
                    <a:pt x="2879404" y="3782"/>
                    <a:pt x="2886137" y="10515"/>
                  </a:cubicBezTo>
                  <a:cubicBezTo>
                    <a:pt x="2892870" y="17247"/>
                    <a:pt x="2896652" y="26379"/>
                    <a:pt x="2896652" y="35900"/>
                  </a:cubicBezTo>
                  <a:lnTo>
                    <a:pt x="2896652" y="1566986"/>
                  </a:lnTo>
                  <a:cubicBezTo>
                    <a:pt x="2896652" y="1576507"/>
                    <a:pt x="2892870" y="1585638"/>
                    <a:pt x="2886137" y="1592371"/>
                  </a:cubicBezTo>
                  <a:cubicBezTo>
                    <a:pt x="2879404" y="1599104"/>
                    <a:pt x="2870273" y="1602886"/>
                    <a:pt x="2860752" y="1602886"/>
                  </a:cubicBezTo>
                  <a:lnTo>
                    <a:pt x="35900" y="1602886"/>
                  </a:lnTo>
                  <a:cubicBezTo>
                    <a:pt x="16073" y="1602886"/>
                    <a:pt x="0" y="1586813"/>
                    <a:pt x="0" y="1566986"/>
                  </a:cubicBezTo>
                  <a:lnTo>
                    <a:pt x="0" y="35900"/>
                  </a:lnTo>
                  <a:cubicBezTo>
                    <a:pt x="0" y="16073"/>
                    <a:pt x="16073" y="0"/>
                    <a:pt x="35900" y="0"/>
                  </a:cubicBezTo>
                  <a:close/>
                </a:path>
              </a:pathLst>
            </a:custGeom>
            <a:solidFill>
              <a:srgbClr val="F1F2F6"/>
            </a:solidFill>
            <a:ln w="19050" cap="rnd">
              <a:solidFill>
                <a:srgbClr val="011142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2896652" cy="16314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2153784" y="1479302"/>
            <a:ext cx="4551380" cy="8607812"/>
          </a:xfrm>
          <a:custGeom>
            <a:avLst/>
            <a:gdLst/>
            <a:ahLst/>
            <a:cxnLst/>
            <a:rect r="r" b="b" t="t" l="l"/>
            <a:pathLst>
              <a:path h="8607812" w="4551380">
                <a:moveTo>
                  <a:pt x="0" y="0"/>
                </a:moveTo>
                <a:lnTo>
                  <a:pt x="4551381" y="0"/>
                </a:lnTo>
                <a:lnTo>
                  <a:pt x="4551381" y="8607812"/>
                </a:lnTo>
                <a:lnTo>
                  <a:pt x="0" y="860781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6" id="6"/>
          <p:cNvGrpSpPr/>
          <p:nvPr/>
        </p:nvGrpSpPr>
        <p:grpSpPr>
          <a:xfrm rot="0">
            <a:off x="13764948" y="3392449"/>
            <a:ext cx="1903989" cy="3117623"/>
            <a:chOff x="0" y="0"/>
            <a:chExt cx="501462" cy="82110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01462" cy="821102"/>
            </a:xfrm>
            <a:custGeom>
              <a:avLst/>
              <a:gdLst/>
              <a:ahLst/>
              <a:cxnLst/>
              <a:rect r="r" b="b" t="t" l="l"/>
              <a:pathLst>
                <a:path h="821102" w="501462">
                  <a:moveTo>
                    <a:pt x="0" y="0"/>
                  </a:moveTo>
                  <a:lnTo>
                    <a:pt x="501462" y="0"/>
                  </a:lnTo>
                  <a:lnTo>
                    <a:pt x="501462" y="821102"/>
                  </a:lnTo>
                  <a:lnTo>
                    <a:pt x="0" y="821102"/>
                  </a:lnTo>
                  <a:close/>
                </a:path>
              </a:pathLst>
            </a:custGeom>
            <a:solidFill>
              <a:srgbClr val="F1F2F6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501462" cy="8496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3646812" y="3748180"/>
            <a:ext cx="1858027" cy="2345083"/>
          </a:xfrm>
          <a:custGeom>
            <a:avLst/>
            <a:gdLst/>
            <a:ahLst/>
            <a:cxnLst/>
            <a:rect r="r" b="b" t="t" l="l"/>
            <a:pathLst>
              <a:path h="2345083" w="1858027">
                <a:moveTo>
                  <a:pt x="0" y="0"/>
                </a:moveTo>
                <a:lnTo>
                  <a:pt x="1858028" y="0"/>
                </a:lnTo>
                <a:lnTo>
                  <a:pt x="1858028" y="2345083"/>
                </a:lnTo>
                <a:lnTo>
                  <a:pt x="0" y="234508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2735694" y="3313840"/>
            <a:ext cx="7088850" cy="8012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911"/>
              </a:lnSpc>
            </a:pPr>
            <a:r>
              <a:rPr lang="en-US" b="true" sz="6496">
                <a:solidFill>
                  <a:srgbClr val="011142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Your Next Steps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735694" y="4501656"/>
            <a:ext cx="7584236" cy="13970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798"/>
              </a:lnSpc>
            </a:pPr>
            <a:r>
              <a:rPr lang="en-US" sz="1998">
                <a:solidFill>
                  <a:srgbClr val="011142"/>
                </a:solidFill>
                <a:latin typeface="TT Firs Neue"/>
                <a:ea typeface="TT Firs Neue"/>
                <a:cs typeface="TT Firs Neue"/>
                <a:sym typeface="TT Firs Neue"/>
              </a:rPr>
              <a:t>Remember the warning signs: check sender addresses, hover over links before clicking, and never share passwords or personal data via email. Report any suspicious emails or messages to your IT security team immediately.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735694" y="6279656"/>
            <a:ext cx="7584236" cy="13970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798"/>
              </a:lnSpc>
            </a:pPr>
            <a:r>
              <a:rPr lang="en-US" sz="1998">
                <a:solidFill>
                  <a:srgbClr val="011142"/>
                </a:solidFill>
                <a:latin typeface="TT Firs Neue"/>
                <a:ea typeface="TT Firs Neue"/>
                <a:cs typeface="TT Firs Neue"/>
                <a:sym typeface="TT Firs Neue"/>
              </a:rPr>
              <a:t>Complete the phishing awareness quiz to test your knowledge, then share these best practices with your colleagues. Together, a vigilant team is your organization's strongest defense against phishing attacks.</a:t>
            </a:r>
          </a:p>
        </p:txBody>
      </p:sp>
      <p:sp>
        <p:nvSpPr>
          <p:cNvPr name="Freeform 13" id="13"/>
          <p:cNvSpPr/>
          <p:nvPr/>
        </p:nvSpPr>
        <p:spPr>
          <a:xfrm flipH="true" flipV="false" rot="0">
            <a:off x="-3318366" y="8726285"/>
            <a:ext cx="7315200" cy="1064029"/>
          </a:xfrm>
          <a:custGeom>
            <a:avLst/>
            <a:gdLst/>
            <a:ahLst/>
            <a:cxnLst/>
            <a:rect r="r" b="b" t="t" l="l"/>
            <a:pathLst>
              <a:path h="1064029" w="7315200">
                <a:moveTo>
                  <a:pt x="7315200" y="0"/>
                </a:moveTo>
                <a:lnTo>
                  <a:pt x="0" y="0"/>
                </a:lnTo>
                <a:lnTo>
                  <a:pt x="0" y="1064030"/>
                </a:lnTo>
                <a:lnTo>
                  <a:pt x="7315200" y="1064030"/>
                </a:lnTo>
                <a:lnTo>
                  <a:pt x="731520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true" flipV="false" rot="0">
            <a:off x="13764948" y="696050"/>
            <a:ext cx="7315200" cy="1064029"/>
          </a:xfrm>
          <a:custGeom>
            <a:avLst/>
            <a:gdLst/>
            <a:ahLst/>
            <a:cxnLst/>
            <a:rect r="r" b="b" t="t" l="l"/>
            <a:pathLst>
              <a:path h="1064029" w="7315200">
                <a:moveTo>
                  <a:pt x="7315200" y="0"/>
                </a:moveTo>
                <a:lnTo>
                  <a:pt x="0" y="0"/>
                </a:lnTo>
                <a:lnTo>
                  <a:pt x="0" y="1064029"/>
                </a:lnTo>
                <a:lnTo>
                  <a:pt x="7315200" y="1064029"/>
                </a:lnTo>
                <a:lnTo>
                  <a:pt x="731520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B0CE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13601700" y="8726285"/>
            <a:ext cx="7315200" cy="1064029"/>
          </a:xfrm>
          <a:custGeom>
            <a:avLst/>
            <a:gdLst/>
            <a:ahLst/>
            <a:cxnLst/>
            <a:rect r="r" b="b" t="t" l="l"/>
            <a:pathLst>
              <a:path h="1064029" w="7315200">
                <a:moveTo>
                  <a:pt x="7315200" y="0"/>
                </a:moveTo>
                <a:lnTo>
                  <a:pt x="0" y="0"/>
                </a:lnTo>
                <a:lnTo>
                  <a:pt x="0" y="1064030"/>
                </a:lnTo>
                <a:lnTo>
                  <a:pt x="7315200" y="1064030"/>
                </a:lnTo>
                <a:lnTo>
                  <a:pt x="731520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-1607344" y="330360"/>
            <a:ext cx="7315200" cy="1064029"/>
          </a:xfrm>
          <a:custGeom>
            <a:avLst/>
            <a:gdLst/>
            <a:ahLst/>
            <a:cxnLst/>
            <a:rect r="r" b="b" t="t" l="l"/>
            <a:pathLst>
              <a:path h="1064029" w="7315200">
                <a:moveTo>
                  <a:pt x="7315200" y="0"/>
                </a:moveTo>
                <a:lnTo>
                  <a:pt x="0" y="0"/>
                </a:lnTo>
                <a:lnTo>
                  <a:pt x="0" y="1064030"/>
                </a:lnTo>
                <a:lnTo>
                  <a:pt x="7315200" y="1064030"/>
                </a:lnTo>
                <a:lnTo>
                  <a:pt x="731520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895709" y="2278394"/>
            <a:ext cx="7363591" cy="5730213"/>
          </a:xfrm>
          <a:custGeom>
            <a:avLst/>
            <a:gdLst/>
            <a:ahLst/>
            <a:cxnLst/>
            <a:rect r="r" b="b" t="t" l="l"/>
            <a:pathLst>
              <a:path h="5730213" w="7363591">
                <a:moveTo>
                  <a:pt x="0" y="0"/>
                </a:moveTo>
                <a:lnTo>
                  <a:pt x="7363591" y="0"/>
                </a:lnTo>
                <a:lnTo>
                  <a:pt x="7363591" y="5730212"/>
                </a:lnTo>
                <a:lnTo>
                  <a:pt x="0" y="573021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8383586" y="3122107"/>
            <a:ext cx="3792868" cy="4042785"/>
          </a:xfrm>
          <a:custGeom>
            <a:avLst/>
            <a:gdLst/>
            <a:ahLst/>
            <a:cxnLst/>
            <a:rect r="r" b="b" t="t" l="l"/>
            <a:pathLst>
              <a:path h="4042785" w="3792868">
                <a:moveTo>
                  <a:pt x="0" y="0"/>
                </a:moveTo>
                <a:lnTo>
                  <a:pt x="3792868" y="0"/>
                </a:lnTo>
                <a:lnTo>
                  <a:pt x="3792868" y="4042786"/>
                </a:lnTo>
                <a:lnTo>
                  <a:pt x="0" y="404278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6" id="6"/>
          <p:cNvSpPr txBox="true"/>
          <p:nvPr/>
        </p:nvSpPr>
        <p:spPr>
          <a:xfrm rot="0">
            <a:off x="1412370" y="4719662"/>
            <a:ext cx="6572165" cy="961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87"/>
              </a:lnSpc>
            </a:pPr>
            <a:r>
              <a:rPr lang="en-US" b="true" sz="4051">
                <a:solidFill>
                  <a:srgbClr val="011142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Thank You for Completing the Training!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DAHM2tOciz8</dc:identifier>
  <dcterms:modified xsi:type="dcterms:W3CDTF">2011-08-01T06:04:30Z</dcterms:modified>
  <cp:revision>1</cp:revision>
  <dc:title>Urgent Language</dc:title>
</cp:coreProperties>
</file>